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Purpose: show how Geldium can turn the Task 2 risk model and Task 3 segment recommendations into an autonomous, responsible collections system. Four themes: how it works, where AI acts vs. where people decide, guardrails, and impact.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Walk left to right. Inputs: repayment history, utilization, income and contact history. Decision: the Task 2 model scores delinquency risk; business rules and fairness checks sit on top. Actions: reminders, payment plans or human-led hardship support depending on risk. Learning: every outcome is tracked and fed back via champion/challenger tests and scheduled retraining with drift and bias review.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Both model predictions and business rules are used. The score picks the tier; policy rules cap what can be offered and how often customers are contacted. Cut-offs shown (0.30 / 0.65) are illustrative and would be calibrated on the Task 2 model and approved by Risk &amp; Compliance. High-risk accounts always go to a human.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Rule of thumb: AI acts alone on low-impact, reversible, policy-bounded steps (scoring, reminders, timing). Humans decide anything that materially affects a customer: hardship plans, disputes, adverse actions, and any change to the model or thresholds.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Four safeguards: (1) fairness testing for disparate impact under ECOA with proxy checks and monthly re-tests; (2) reason codes for every score and action; (3) a compliance rules engine the AI cannot override (FDCPA, GDPR, local law); (4) human approval for critical decisions, plus kill switch, audit trail and quarterly independent review.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Targets are illustrative hypotheses, not forecasts. They would be baselined against current performance and validated in a pilot with a control group. Pair every efficiency KPI with a guard-rail KPI (complaint rate, fairness parity) so cost savings never come at the expense of customers. Scalability: the same engine handles growing account volumes without proportional headcount.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101" name="Card Inputs"/>
          <p:cNvSpPr/>
          <p:nvPr/>
        </p:nvSpPr>
        <p:spPr>
          <a:xfrm>
            <a:off x="387900" y="1480000"/>
            <a:ext cx="1900000" cy="2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02" name="Step 1"/>
          <p:cNvSpPr/>
          <p:nvPr/>
        </p:nvSpPr>
        <p:spPr>
          <a:xfrm>
            <a:off x="507900" y="162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3" name="Header Inputs"/>
          <p:cNvSpPr txBox="1"/>
          <p:nvPr/>
        </p:nvSpPr>
        <p:spPr>
          <a:xfrm>
            <a:off x="947900" y="1620000"/>
            <a:ext cx="13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Inputs</a:t>
            </a:r>
          </a:p>
        </p:txBody>
      </p:sp>
      <p:sp>
        <p:nvSpPr>
          <p:cNvPr id="104" name="Body Inputs"/>
          <p:cNvSpPr txBox="1"/>
          <p:nvPr/>
        </p:nvSpPr>
        <p:spPr>
          <a:xfrm>
            <a:off x="447900" y="2120000"/>
            <a:ext cx="178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Repayment history &amp; days past due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Credit utilization &amp; balances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Income, contact &amp; channel history</a:t>
            </a:r>
          </a:p>
        </p:txBody>
      </p:sp>
      <p:sp>
        <p:nvSpPr>
          <p:cNvPr id="105" name="Arrow 1"/>
          <p:cNvSpPr/>
          <p:nvPr/>
        </p:nvSpPr>
        <p:spPr>
          <a:xfrm>
            <a:off x="2315933" y="1710000"/>
            <a:ext cx="200000" cy="20000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06" name="Card Decision"/>
          <p:cNvSpPr/>
          <p:nvPr/>
        </p:nvSpPr>
        <p:spPr>
          <a:xfrm>
            <a:off x="2543966" y="1480000"/>
            <a:ext cx="1900000" cy="2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07" name="Step 2"/>
          <p:cNvSpPr/>
          <p:nvPr/>
        </p:nvSpPr>
        <p:spPr>
          <a:xfrm>
            <a:off x="2663966" y="162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08" name="Header Decision"/>
          <p:cNvSpPr txBox="1"/>
          <p:nvPr/>
        </p:nvSpPr>
        <p:spPr>
          <a:xfrm>
            <a:off x="3103966" y="1620000"/>
            <a:ext cx="13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Decision</a:t>
            </a:r>
          </a:p>
        </p:txBody>
      </p:sp>
      <p:sp>
        <p:nvSpPr>
          <p:cNvPr id="109" name="Body Decision"/>
          <p:cNvSpPr txBox="1"/>
          <p:nvPr/>
        </p:nvSpPr>
        <p:spPr>
          <a:xfrm>
            <a:off x="2603966" y="2120000"/>
            <a:ext cx="178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ML risk score (Task 2 model)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Policy rules &amp; fairness checks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Best next action chosen</a:t>
            </a:r>
          </a:p>
        </p:txBody>
      </p:sp>
      <p:sp>
        <p:nvSpPr>
          <p:cNvPr id="110" name="Arrow 2"/>
          <p:cNvSpPr/>
          <p:nvPr/>
        </p:nvSpPr>
        <p:spPr>
          <a:xfrm>
            <a:off x="4471999" y="1710000"/>
            <a:ext cx="200000" cy="20000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11" name="Card Actions"/>
          <p:cNvSpPr/>
          <p:nvPr/>
        </p:nvSpPr>
        <p:spPr>
          <a:xfrm>
            <a:off x="4700032" y="1480000"/>
            <a:ext cx="1900000" cy="2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12" name="Step 3"/>
          <p:cNvSpPr/>
          <p:nvPr/>
        </p:nvSpPr>
        <p:spPr>
          <a:xfrm>
            <a:off x="4820032" y="162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13" name="Header Actions"/>
          <p:cNvSpPr txBox="1"/>
          <p:nvPr/>
        </p:nvSpPr>
        <p:spPr>
          <a:xfrm>
            <a:off x="5260032" y="1620000"/>
            <a:ext cx="13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Actions</a:t>
            </a:r>
          </a:p>
        </p:txBody>
      </p:sp>
      <p:sp>
        <p:nvSpPr>
          <p:cNvPr id="114" name="Body Actions"/>
          <p:cNvSpPr txBox="1"/>
          <p:nvPr/>
        </p:nvSpPr>
        <p:spPr>
          <a:xfrm>
            <a:off x="4760032" y="2120000"/>
            <a:ext cx="178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Low risk: automated reminders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Medium: tailored payment plans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High: human-led hardship support</a:t>
            </a:r>
          </a:p>
        </p:txBody>
      </p:sp>
      <p:sp>
        <p:nvSpPr>
          <p:cNvPr id="115" name="Arrow 3"/>
          <p:cNvSpPr/>
          <p:nvPr/>
        </p:nvSpPr>
        <p:spPr>
          <a:xfrm>
            <a:off x="6628065" y="1710000"/>
            <a:ext cx="200000" cy="20000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16" name="Card Learning"/>
          <p:cNvSpPr/>
          <p:nvPr/>
        </p:nvSpPr>
        <p:spPr>
          <a:xfrm>
            <a:off x="6856098" y="1480000"/>
            <a:ext cx="1900000" cy="2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17" name="Step 4"/>
          <p:cNvSpPr/>
          <p:nvPr/>
        </p:nvSpPr>
        <p:spPr>
          <a:xfrm>
            <a:off x="6976098" y="162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118" name="Header Learning"/>
          <p:cNvSpPr txBox="1"/>
          <p:nvPr/>
        </p:nvSpPr>
        <p:spPr>
          <a:xfrm>
            <a:off x="7416098" y="1620000"/>
            <a:ext cx="13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Learning</a:t>
            </a:r>
          </a:p>
        </p:txBody>
      </p:sp>
      <p:sp>
        <p:nvSpPr>
          <p:cNvPr id="119" name="Body Learning"/>
          <p:cNvSpPr txBox="1"/>
          <p:nvPr/>
        </p:nvSpPr>
        <p:spPr>
          <a:xfrm>
            <a:off x="6916098" y="2120000"/>
            <a:ext cx="178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Track paid, cured, rolled, complaints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A/B test offers and messages</a:t>
            </a:r>
          </a:p>
          <a:p>
            <a:pPr marL="150000" indent="-150000" algn="l">
              <a:spcBef>
                <a:spcPts val="0"/>
              </a:spcBef>
              <a:spcAft>
                <a:spcPts val="700"/>
              </a:spcAft>
              <a:buClr>
                <a:schemeClr val="accent5"/>
              </a:buClr>
              <a:buFont typeface="Arial"/>
              <a:buChar char="•"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Retrain with drift &amp; bias review</a:t>
            </a:r>
          </a:p>
        </p:txBody>
      </p:sp>
      <p:sp>
        <p:nvSpPr>
          <p:cNvPr id="120" name="Loop bar"/>
          <p:cNvSpPr/>
          <p:nvPr/>
        </p:nvSpPr>
        <p:spPr>
          <a:xfrm>
            <a:off x="387900" y="4090000"/>
            <a:ext cx="8368200" cy="380000"/>
          </a:xfrm>
          <a:prstGeom prst="roundRect">
            <a:avLst>
              <a:gd name="adj" fmla="val 30000"/>
            </a:avLst>
          </a:prstGeom>
          <a:solidFill>
            <a:schemeClr val="dk2"/>
          </a:solidFill>
          <a:ln>
            <a:noFill/>
          </a:ln>
        </p:spPr>
        <p:txBody>
          <a:bodyPr wrap="square" lIns="560000" tIns="0" rIns="91425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Learning loop: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every outcome flows back into the inputs, so each cycle is smarter and fairer</a:t>
            </a:r>
          </a:p>
        </p:txBody>
      </p:sp>
      <p:sp>
        <p:nvSpPr>
          <p:cNvPr id="121" name="Loop arrow"/>
          <p:cNvSpPr/>
          <p:nvPr/>
        </p:nvSpPr>
        <p:spPr>
          <a:xfrm>
            <a:off x="537900" y="4180000"/>
            <a:ext cx="300000" cy="200000"/>
          </a:xfrm>
          <a:prstGeom prst="leftArrow">
            <a:avLst/>
          </a:prstGeom>
          <a:solidFill>
            <a:schemeClr val="accent5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Logic by Risk Tier</a:t>
            </a:r>
          </a:p>
        </p:txBody>
      </p:sp>
      <p:sp>
        <p:nvSpPr>
          <p:cNvPr id="122" name="Row LOW RISK"/>
          <p:cNvSpPr/>
          <p:nvPr/>
        </p:nvSpPr>
        <p:spPr>
          <a:xfrm>
            <a:off x="387900" y="1480000"/>
            <a:ext cx="8368200" cy="95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23" name="Chip LOW RISK"/>
          <p:cNvSpPr/>
          <p:nvPr/>
        </p:nvSpPr>
        <p:spPr>
          <a:xfrm>
            <a:off x="480000" y="1590000"/>
            <a:ext cx="1600000" cy="730000"/>
          </a:xfrm>
          <a:prstGeom prst="roundRect">
            <a:avLst>
              <a:gd name="adj" fmla="val 12000"/>
            </a:avLst>
          </a:prstGeom>
          <a:solidFill>
            <a:srgbClr val="8BC34A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LOW RISK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2"/>
                </a:solidFill>
                <a:latin typeface="Roboto"/>
                <a:cs typeface="Roboto"/>
              </a:rPr>
              <a:t>Score &lt; 0.30</a:t>
            </a:r>
          </a:p>
        </p:txBody>
      </p:sp>
      <p:sp>
        <p:nvSpPr>
          <p:cNvPr id="124" name="Action LOW RISK"/>
          <p:cNvSpPr txBox="1"/>
          <p:nvPr/>
        </p:nvSpPr>
        <p:spPr>
          <a:xfrm>
            <a:off x="2230000" y="1480000"/>
            <a:ext cx="33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Action: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Automated SMS/email reminder with a one-tap pay link, plus a gentle follow-up if there is no response.</a:t>
            </a:r>
          </a:p>
        </p:txBody>
      </p:sp>
      <p:sp>
        <p:nvSpPr>
          <p:cNvPr id="125" name="Control LOW RISK"/>
          <p:cNvSpPr txBox="1"/>
          <p:nvPr/>
        </p:nvSpPr>
        <p:spPr>
          <a:xfrm>
            <a:off x="5700000" y="1480000"/>
            <a:ext cx="30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Control: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Contact-frequency caps; opt-outs honored instantly.</a:t>
            </a:r>
          </a:p>
        </p:txBody>
      </p:sp>
      <p:sp>
        <p:nvSpPr>
          <p:cNvPr id="126" name="Row MEDIUM RISK"/>
          <p:cNvSpPr/>
          <p:nvPr/>
        </p:nvSpPr>
        <p:spPr>
          <a:xfrm>
            <a:off x="387900" y="2530000"/>
            <a:ext cx="8368200" cy="95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27" name="Chip MEDIUM RISK"/>
          <p:cNvSpPr/>
          <p:nvPr/>
        </p:nvSpPr>
        <p:spPr>
          <a:xfrm>
            <a:off x="480000" y="2640000"/>
            <a:ext cx="1600000" cy="730000"/>
          </a:xfrm>
          <a:prstGeom prst="roundRect">
            <a:avLst>
              <a:gd name="adj" fmla="val 12000"/>
            </a:avLst>
          </a:prstGeom>
          <a:solidFill>
            <a:srgbClr val="FFEB38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MEDIUM RISK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2"/>
                </a:solidFill>
                <a:latin typeface="Roboto"/>
                <a:cs typeface="Roboto"/>
              </a:rPr>
              <a:t>Score 0.30–0.65</a:t>
            </a:r>
          </a:p>
        </p:txBody>
      </p:sp>
      <p:sp>
        <p:nvSpPr>
          <p:cNvPr id="128" name="Action MEDIUM RISK"/>
          <p:cNvSpPr txBox="1"/>
          <p:nvPr/>
        </p:nvSpPr>
        <p:spPr>
          <a:xfrm>
            <a:off x="2230000" y="2530000"/>
            <a:ext cx="33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Action: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Personalized payment-plan offer (due-date shift or smaller instalments) via the customer’s preferred channel.</a:t>
            </a:r>
          </a:p>
        </p:txBody>
      </p:sp>
      <p:sp>
        <p:nvSpPr>
          <p:cNvPr id="129" name="Control MEDIUM RISK"/>
          <p:cNvSpPr txBox="1"/>
          <p:nvPr/>
        </p:nvSpPr>
        <p:spPr>
          <a:xfrm>
            <a:off x="5700000" y="2530000"/>
            <a:ext cx="30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Control: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Offers limited to an approved policy menu; agent can override.</a:t>
            </a:r>
          </a:p>
        </p:txBody>
      </p:sp>
      <p:sp>
        <p:nvSpPr>
          <p:cNvPr id="130" name="Row HIGH RISK"/>
          <p:cNvSpPr/>
          <p:nvPr/>
        </p:nvSpPr>
        <p:spPr>
          <a:xfrm>
            <a:off x="387900" y="3580000"/>
            <a:ext cx="8368200" cy="95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31" name="Chip HIGH RISK"/>
          <p:cNvSpPr/>
          <p:nvPr/>
        </p:nvSpPr>
        <p:spPr>
          <a:xfrm>
            <a:off x="480000" y="3690000"/>
            <a:ext cx="1600000" cy="730000"/>
          </a:xfrm>
          <a:prstGeom prst="roundRect">
            <a:avLst>
              <a:gd name="adj" fmla="val 12000"/>
            </a:avLst>
          </a:prstGeom>
          <a:solidFill>
            <a:srgbClr val="FF8A65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HIGH RISK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2"/>
                </a:solidFill>
                <a:latin typeface="Roboto"/>
                <a:cs typeface="Roboto"/>
              </a:rPr>
              <a:t>Score &gt; 0.65</a:t>
            </a:r>
          </a:p>
        </p:txBody>
      </p:sp>
      <p:sp>
        <p:nvSpPr>
          <p:cNvPr id="132" name="Action HIGH RISK"/>
          <p:cNvSpPr txBox="1"/>
          <p:nvPr/>
        </p:nvSpPr>
        <p:spPr>
          <a:xfrm>
            <a:off x="2230000" y="3580000"/>
            <a:ext cx="33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Action: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Priority outreach to a specialist who reviews hardship options and designs a bespoke plan.</a:t>
            </a:r>
          </a:p>
        </p:txBody>
      </p:sp>
      <p:sp>
        <p:nvSpPr>
          <p:cNvPr id="133" name="Control HIGH RISK"/>
          <p:cNvSpPr txBox="1"/>
          <p:nvPr/>
        </p:nvSpPr>
        <p:spPr>
          <a:xfrm>
            <a:off x="5700000" y="3580000"/>
            <a:ext cx="30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Control: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Human approval required; no automated adverse action.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graphicFrame>
        <p:nvGraphicFramePr>
          <p:cNvPr id="135" name="Autonomous vs human oversight"/>
          <p:cNvGraphicFramePr>
            <a:graphicFrameLocks noGrp="1"/>
          </p:cNvGraphicFramePr>
          <p:nvPr/>
        </p:nvGraphicFramePr>
        <p:xfrm>
          <a:off x="387900" y="1489824"/>
          <a:ext cx="8368200" cy="3000000"/>
        </p:xfrm>
        <a:graphic>
          <a:graphicData uri="http://schemas.openxmlformats.org/drawingml/2006/table">
            <a:tbl>
              <a:tblPr firstRow="1"/>
              <a:tblGrid>
                <a:gridCol w="418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dk2"/>
                          </a:solidFill>
                          <a:latin typeface="Roboto"/>
                          <a:cs typeface="Roboto"/>
                        </a:rPr>
                        <a:t>Autonomous</a:t>
                      </a:r>
                      <a:r>
                        <a:rPr lang="en-US" sz="1200" b="0" dirty="0">
                          <a:solidFill>
                            <a:schemeClr val="dk2"/>
                          </a:solidFill>
                          <a:latin typeface="Roboto"/>
                          <a:cs typeface="Roboto"/>
                        </a:rPr>
                        <a:t>  AI acts on its own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dk2"/>
                          </a:solidFill>
                          <a:latin typeface="Roboto"/>
                          <a:cs typeface="Roboto"/>
                        </a:rPr>
                        <a:t>Human Oversight</a:t>
                      </a:r>
                      <a:r>
                        <a:rPr lang="en-US" sz="1200" b="0" dirty="0">
                          <a:solidFill>
                            <a:schemeClr val="dk2"/>
                          </a:solidFill>
                          <a:latin typeface="Roboto"/>
                          <a:cs typeface="Roboto"/>
                        </a:rPr>
                        <a:t>  people decide or approve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Risk scoring &amp; segmentation: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Refreshed daily for every account.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Hardship &amp; payment-plan approval: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Specialists review personalized plans.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Reminders &amp; payment links: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Sent via SMS/email at policy-approved times.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Escalations &amp; disputes: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Complaints, vulnerable customers, legal cases.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Channel &amp; timing optimization: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Within frequency caps and quiet hours.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Adverse actions: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Credit reporting, third-party placement, legal steps.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Outcome tracking &amp; alerts: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Logs results and flags drift or bias.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Model &amp; threshold changes: 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Roboto"/>
                          <a:cs typeface="Roboto"/>
                        </a:rPr>
                        <a:t>Risk and Compliance sign off before release.</a:t>
                      </a:r>
                    </a:p>
                  </a:txBody>
                  <a:tcPr marL="120000" marR="120000" marT="60000" marB="60000" anchor="ctr">
                    <a:lnL w="25400">
                      <a:solidFill>
                        <a:schemeClr val="lt1"/>
                      </a:solidFill>
                    </a:lnL>
                    <a:lnR w="25400">
                      <a:solidFill>
                        <a:schemeClr val="lt1"/>
                      </a:solidFill>
                    </a:lnR>
                    <a:lnT w="25400">
                      <a:solidFill>
                        <a:schemeClr val="lt1"/>
                      </a:solidFill>
                    </a:lnT>
                    <a:lnB w="25400">
                      <a:solidFill>
                        <a:schemeClr val="lt1"/>
                      </a:solidFill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136" name="Card Fairness checks"/>
          <p:cNvSpPr/>
          <p:nvPr/>
        </p:nvSpPr>
        <p:spPr>
          <a:xfrm>
            <a:off x="387900" y="1480000"/>
            <a:ext cx="4084000" cy="1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37" name="Num 1"/>
          <p:cNvSpPr/>
          <p:nvPr/>
        </p:nvSpPr>
        <p:spPr>
          <a:xfrm>
            <a:off x="507900" y="160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38" name="Header Fairness checks"/>
          <p:cNvSpPr txBox="1"/>
          <p:nvPr/>
        </p:nvSpPr>
        <p:spPr>
          <a:xfrm>
            <a:off x="947900" y="1600000"/>
            <a:ext cx="3444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Fairness checks</a:t>
            </a:r>
          </a:p>
        </p:txBody>
      </p:sp>
      <p:sp>
        <p:nvSpPr>
          <p:cNvPr id="139" name="Body Fairness checks"/>
          <p:cNvSpPr txBox="1"/>
          <p:nvPr/>
        </p:nvSpPr>
        <p:spPr>
          <a:xfrm>
            <a:off x="507900" y="2040000"/>
            <a:ext cx="3844000" cy="88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Test every model and rule for disparate impact (ECOA). Exclude protected attributes and close proxies; re-test monthly and alert on drift.</a:t>
            </a:r>
          </a:p>
        </p:txBody>
      </p:sp>
      <p:sp>
        <p:nvSpPr>
          <p:cNvPr id="140" name="Card Explainability"/>
          <p:cNvSpPr/>
          <p:nvPr/>
        </p:nvSpPr>
        <p:spPr>
          <a:xfrm>
            <a:off x="4672100" y="1480000"/>
            <a:ext cx="4084000" cy="1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41" name="Num 2"/>
          <p:cNvSpPr/>
          <p:nvPr/>
        </p:nvSpPr>
        <p:spPr>
          <a:xfrm>
            <a:off x="4792100" y="160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2" name="Header Explainability"/>
          <p:cNvSpPr txBox="1"/>
          <p:nvPr/>
        </p:nvSpPr>
        <p:spPr>
          <a:xfrm>
            <a:off x="5232100" y="1600000"/>
            <a:ext cx="3444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Explainability</a:t>
            </a:r>
          </a:p>
        </p:txBody>
      </p:sp>
      <p:sp>
        <p:nvSpPr>
          <p:cNvPr id="143" name="Body Explainability"/>
          <p:cNvSpPr txBox="1"/>
          <p:nvPr/>
        </p:nvSpPr>
        <p:spPr>
          <a:xfrm>
            <a:off x="4792100" y="2040000"/>
            <a:ext cx="3844000" cy="88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Every score and action carries plain-language reason codes, logged for agents, customers and auditors. No black-box decisions.</a:t>
            </a:r>
          </a:p>
        </p:txBody>
      </p:sp>
      <p:sp>
        <p:nvSpPr>
          <p:cNvPr id="144" name="Card Regulatory compliance"/>
          <p:cNvSpPr/>
          <p:nvPr/>
        </p:nvSpPr>
        <p:spPr>
          <a:xfrm>
            <a:off x="387900" y="3130000"/>
            <a:ext cx="4084000" cy="1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45" name="Num 3"/>
          <p:cNvSpPr/>
          <p:nvPr/>
        </p:nvSpPr>
        <p:spPr>
          <a:xfrm>
            <a:off x="507900" y="325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46" name="Header Regulatory compliance"/>
          <p:cNvSpPr txBox="1"/>
          <p:nvPr/>
        </p:nvSpPr>
        <p:spPr>
          <a:xfrm>
            <a:off x="947900" y="3250000"/>
            <a:ext cx="3444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Regulatory compliance</a:t>
            </a:r>
          </a:p>
        </p:txBody>
      </p:sp>
      <p:sp>
        <p:nvSpPr>
          <p:cNvPr id="147" name="Body Regulatory compliance"/>
          <p:cNvSpPr txBox="1"/>
          <p:nvPr/>
        </p:nvSpPr>
        <p:spPr>
          <a:xfrm>
            <a:off x="507900" y="3690000"/>
            <a:ext cx="3844000" cy="88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A rules engine enforces contact limits, quiet hours, consent and opt-outs (FDCPA, GDPR, local law). The AI cannot override it.</a:t>
            </a:r>
          </a:p>
        </p:txBody>
      </p:sp>
      <p:sp>
        <p:nvSpPr>
          <p:cNvPr id="148" name="Card Human oversight"/>
          <p:cNvSpPr/>
          <p:nvPr/>
        </p:nvSpPr>
        <p:spPr>
          <a:xfrm>
            <a:off x="4672100" y="3130000"/>
            <a:ext cx="4084000" cy="1500000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49" name="Num 4"/>
          <p:cNvSpPr/>
          <p:nvPr/>
        </p:nvSpPr>
        <p:spPr>
          <a:xfrm>
            <a:off x="4792100" y="3250000"/>
            <a:ext cx="380000" cy="3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2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150" name="Header Human oversight"/>
          <p:cNvSpPr txBox="1"/>
          <p:nvPr/>
        </p:nvSpPr>
        <p:spPr>
          <a:xfrm>
            <a:off x="5232100" y="3250000"/>
            <a:ext cx="3444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Roboto"/>
                <a:cs typeface="Roboto"/>
              </a:rPr>
              <a:t>Human oversight</a:t>
            </a:r>
          </a:p>
        </p:txBody>
      </p:sp>
      <p:sp>
        <p:nvSpPr>
          <p:cNvPr id="151" name="Body Human oversight"/>
          <p:cNvSpPr txBox="1"/>
          <p:nvPr/>
        </p:nvSpPr>
        <p:spPr>
          <a:xfrm>
            <a:off x="4792100" y="3690000"/>
            <a:ext cx="3844000" cy="88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People approve hardship plans, escalations and adverse actions. Includes a kill switch, full audit trail and quarterly independent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152" name="Business header"/>
          <p:cNvSpPr txBox="1"/>
          <p:nvPr/>
        </p:nvSpPr>
        <p:spPr>
          <a:xfrm>
            <a:off x="387900" y="1450000"/>
            <a:ext cx="4084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Business KPIs</a:t>
            </a:r>
          </a:p>
        </p:txBody>
      </p:sp>
      <p:sp>
        <p:nvSpPr>
          <p:cNvPr id="153" name="Customer header"/>
          <p:cNvSpPr txBox="1"/>
          <p:nvPr/>
        </p:nvSpPr>
        <p:spPr>
          <a:xfrm>
            <a:off x="4672100" y="1450000"/>
            <a:ext cx="4084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Customer outcomes</a:t>
            </a:r>
          </a:p>
        </p:txBody>
      </p:sp>
      <p:sp>
        <p:nvSpPr>
          <p:cNvPr id="154" name="KPI card 1"/>
          <p:cNvSpPr/>
          <p:nvPr/>
        </p:nvSpPr>
        <p:spPr>
          <a:xfrm>
            <a:off x="387900" y="18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55" name="KPI value 1"/>
          <p:cNvSpPr txBox="1"/>
          <p:nvPr/>
        </p:nvSpPr>
        <p:spPr>
          <a:xfrm>
            <a:off x="427900" y="1830000"/>
            <a:ext cx="1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↓10–15%</a:t>
            </a:r>
          </a:p>
        </p:txBody>
      </p:sp>
      <p:sp>
        <p:nvSpPr>
          <p:cNvPr id="156" name="KPI label 1"/>
          <p:cNvSpPr txBox="1"/>
          <p:nvPr/>
        </p:nvSpPr>
        <p:spPr>
          <a:xfrm>
            <a:off x="1947900" y="1830000"/>
            <a:ext cx="246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Delinquency rate (30+ days past due)</a:t>
            </a:r>
          </a:p>
        </p:txBody>
      </p:sp>
      <p:sp>
        <p:nvSpPr>
          <p:cNvPr id="157" name="KPI card 2"/>
          <p:cNvSpPr/>
          <p:nvPr/>
        </p:nvSpPr>
        <p:spPr>
          <a:xfrm>
            <a:off x="387900" y="25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58" name="KPI value 2"/>
          <p:cNvSpPr txBox="1"/>
          <p:nvPr/>
        </p:nvSpPr>
        <p:spPr>
          <a:xfrm>
            <a:off x="427900" y="2530000"/>
            <a:ext cx="1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↑5–10%</a:t>
            </a:r>
          </a:p>
        </p:txBody>
      </p:sp>
      <p:sp>
        <p:nvSpPr>
          <p:cNvPr id="159" name="KPI label 2"/>
          <p:cNvSpPr txBox="1"/>
          <p:nvPr/>
        </p:nvSpPr>
        <p:spPr>
          <a:xfrm>
            <a:off x="1947900" y="2530000"/>
            <a:ext cx="246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Cure and repayment rate on contacted accounts</a:t>
            </a:r>
          </a:p>
        </p:txBody>
      </p:sp>
      <p:sp>
        <p:nvSpPr>
          <p:cNvPr id="160" name="KPI card 3"/>
          <p:cNvSpPr/>
          <p:nvPr/>
        </p:nvSpPr>
        <p:spPr>
          <a:xfrm>
            <a:off x="387900" y="32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61" name="KPI value 3"/>
          <p:cNvSpPr txBox="1"/>
          <p:nvPr/>
        </p:nvSpPr>
        <p:spPr>
          <a:xfrm>
            <a:off x="427900" y="3230000"/>
            <a:ext cx="1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↓15–20%</a:t>
            </a:r>
          </a:p>
        </p:txBody>
      </p:sp>
      <p:sp>
        <p:nvSpPr>
          <p:cNvPr id="162" name="KPI label 3"/>
          <p:cNvSpPr txBox="1"/>
          <p:nvPr/>
        </p:nvSpPr>
        <p:spPr>
          <a:xfrm>
            <a:off x="1947900" y="3230000"/>
            <a:ext cx="246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Cost to collect per dollar recovered</a:t>
            </a:r>
          </a:p>
        </p:txBody>
      </p:sp>
      <p:sp>
        <p:nvSpPr>
          <p:cNvPr id="163" name="KPI card 4"/>
          <p:cNvSpPr/>
          <p:nvPr/>
        </p:nvSpPr>
        <p:spPr>
          <a:xfrm>
            <a:off x="387900" y="39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64" name="KPI value 4"/>
          <p:cNvSpPr txBox="1"/>
          <p:nvPr/>
        </p:nvSpPr>
        <p:spPr>
          <a:xfrm>
            <a:off x="427900" y="3930000"/>
            <a:ext cx="1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5"/>
                </a:solidFill>
                <a:latin typeface="Roboto"/>
                <a:cs typeface="Roboto"/>
              </a:rPr>
              <a:t>↓30–40%</a:t>
            </a:r>
          </a:p>
        </p:txBody>
      </p:sp>
      <p:sp>
        <p:nvSpPr>
          <p:cNvPr id="165" name="KPI label 4"/>
          <p:cNvSpPr txBox="1"/>
          <p:nvPr/>
        </p:nvSpPr>
        <p:spPr>
          <a:xfrm>
            <a:off x="1947900" y="3930000"/>
            <a:ext cx="246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Agent time spent on routine, low-risk contacts</a:t>
            </a:r>
          </a:p>
        </p:txBody>
      </p:sp>
      <p:sp>
        <p:nvSpPr>
          <p:cNvPr id="166" name="Outcome card 1"/>
          <p:cNvSpPr/>
          <p:nvPr/>
        </p:nvSpPr>
        <p:spPr>
          <a:xfrm>
            <a:off x="4672100" y="18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67" name="Outcome text 1"/>
          <p:cNvSpPr txBox="1"/>
          <p:nvPr/>
        </p:nvSpPr>
        <p:spPr>
          <a:xfrm>
            <a:off x="4772100" y="1830000"/>
            <a:ext cx="388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Fewer, more relevant contacts: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Right message, channel and time.</a:t>
            </a:r>
          </a:p>
        </p:txBody>
      </p:sp>
      <p:sp>
        <p:nvSpPr>
          <p:cNvPr id="168" name="Outcome card 2"/>
          <p:cNvSpPr/>
          <p:nvPr/>
        </p:nvSpPr>
        <p:spPr>
          <a:xfrm>
            <a:off x="4672100" y="25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69" name="Outcome text 2"/>
          <p:cNvSpPr txBox="1"/>
          <p:nvPr/>
        </p:nvSpPr>
        <p:spPr>
          <a:xfrm>
            <a:off x="4772100" y="2530000"/>
            <a:ext cx="388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Earlier help: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Hardship signals caught before default.</a:t>
            </a:r>
          </a:p>
        </p:txBody>
      </p:sp>
      <p:sp>
        <p:nvSpPr>
          <p:cNvPr id="170" name="Outcome card 3"/>
          <p:cNvSpPr/>
          <p:nvPr/>
        </p:nvSpPr>
        <p:spPr>
          <a:xfrm>
            <a:off x="4672100" y="32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71" name="Outcome text 3"/>
          <p:cNvSpPr txBox="1"/>
          <p:nvPr/>
        </p:nvSpPr>
        <p:spPr>
          <a:xfrm>
            <a:off x="4772100" y="3230000"/>
            <a:ext cx="388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Consistent, fair treatment: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Similar customers treated alike, monitored for bias.</a:t>
            </a:r>
          </a:p>
        </p:txBody>
      </p:sp>
      <p:sp>
        <p:nvSpPr>
          <p:cNvPr id="172" name="Outcome card 4"/>
          <p:cNvSpPr/>
          <p:nvPr/>
        </p:nvSpPr>
        <p:spPr>
          <a:xfrm>
            <a:off x="4672100" y="3930000"/>
            <a:ext cx="4084000" cy="640000"/>
          </a:xfrm>
          <a:prstGeom prst="roundRect">
            <a:avLst>
              <a:gd name="adj" fmla="val 1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5" tIns="45720" rIns="91425" bIns="45720" anchor="t">
            <a:noAutofit/>
          </a:bodyPr>
          <a:lstStyle/>
          <a:p>
            <a:endParaRPr lang="en-US"/>
          </a:p>
        </p:txBody>
      </p:sp>
      <p:sp>
        <p:nvSpPr>
          <p:cNvPr id="173" name="Outcome text 4"/>
          <p:cNvSpPr txBox="1"/>
          <p:nvPr/>
        </p:nvSpPr>
        <p:spPr>
          <a:xfrm>
            <a:off x="4772100" y="3930000"/>
            <a:ext cx="3884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5"/>
                </a:solidFill>
                <a:latin typeface="Roboto"/>
                <a:cs typeface="Roboto"/>
              </a:rPr>
              <a:t>Clear and trustworthy: </a:t>
            </a:r>
            <a:r>
              <a:rPr lang="en-US" sz="1200" b="0" dirty="0">
                <a:solidFill>
                  <a:schemeClr val="dk1"/>
                </a:solidFill>
                <a:latin typeface="Roboto"/>
                <a:cs typeface="Roboto"/>
              </a:rPr>
              <a:t>Plain-language reasons; easy opt-out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909</Words>
  <Application>Microsoft Office PowerPoint</Application>
  <PresentationFormat>On-screen Show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Arial</vt:lpstr>
      <vt:lpstr>Roboto Slab</vt:lpstr>
      <vt:lpstr>Marina</vt:lpstr>
      <vt:lpstr>AI-Powered Collections Strategy</vt:lpstr>
      <vt:lpstr>How the System Works</vt:lpstr>
      <vt:lpstr>Decision Logic by Risk Tier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Sushma - cse</cp:lastModifiedBy>
  <cp:revision>3</cp:revision>
  <dcterms:modified xsi:type="dcterms:W3CDTF">2026-10-29T14:38:50Z</dcterms:modified>
</cp:coreProperties>
</file>